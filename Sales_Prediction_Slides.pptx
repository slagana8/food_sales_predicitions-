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verage"/>
      <p:regular r:id="rId14"/>
    </p:embeddedFon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regular.fntdata"/><Relationship Id="rId14" Type="http://schemas.openxmlformats.org/officeDocument/2006/relationships/font" Target="fonts/Average-regular.fntdata"/><Relationship Id="rId16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6f980f91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6f980f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980f91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980f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6f980f91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6f980f9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c6f980f91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c6f980f9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20e557112b_0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20e557112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Projection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 Lagana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our data affect our future Item Outlet sales?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175" y="2139149"/>
            <a:ext cx="3239625" cy="242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2441850" y="5122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Understanding the data</a:t>
            </a:r>
            <a:endParaRPr/>
          </a:p>
        </p:txBody>
      </p:sp>
      <p:grpSp>
        <p:nvGrpSpPr>
          <p:cNvPr id="73" name="Google Shape;73;p15"/>
          <p:cNvGrpSpPr/>
          <p:nvPr/>
        </p:nvGrpSpPr>
        <p:grpSpPr>
          <a:xfrm>
            <a:off x="1373238" y="1304875"/>
            <a:ext cx="2628925" cy="3416400"/>
            <a:chOff x="431925" y="1304875"/>
            <a:chExt cx="2628925" cy="3416400"/>
          </a:xfrm>
        </p:grpSpPr>
        <p:sp>
          <p:nvSpPr>
            <p:cNvPr id="74" name="Google Shape;74;p1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5"/>
          <p:cNvSpPr txBox="1"/>
          <p:nvPr>
            <p:ph idx="4294967295" type="body"/>
          </p:nvPr>
        </p:nvSpPr>
        <p:spPr>
          <a:xfrm>
            <a:off x="2152826" y="1304875"/>
            <a:ext cx="13611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Item_MRP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7" name="Google Shape;77;p15"/>
          <p:cNvSpPr txBox="1"/>
          <p:nvPr>
            <p:ph idx="4294967295" type="body"/>
          </p:nvPr>
        </p:nvSpPr>
        <p:spPr>
          <a:xfrm>
            <a:off x="1448388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Item_MRP has the highest correlation out of all the different features </a:t>
            </a:r>
            <a:endParaRPr sz="1600"/>
          </a:p>
        </p:txBody>
      </p:sp>
      <p:grpSp>
        <p:nvGrpSpPr>
          <p:cNvPr id="78" name="Google Shape;78;p15"/>
          <p:cNvGrpSpPr/>
          <p:nvPr/>
        </p:nvGrpSpPr>
        <p:grpSpPr>
          <a:xfrm>
            <a:off x="5281475" y="1304875"/>
            <a:ext cx="2632500" cy="3416400"/>
            <a:chOff x="3320450" y="1304875"/>
            <a:chExt cx="2632500" cy="3416400"/>
          </a:xfrm>
        </p:grpSpPr>
        <p:sp>
          <p:nvSpPr>
            <p:cNvPr id="79" name="Google Shape;79;p15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5"/>
          <p:cNvSpPr txBox="1"/>
          <p:nvPr>
            <p:ph idx="4294967295" type="body"/>
          </p:nvPr>
        </p:nvSpPr>
        <p:spPr>
          <a:xfrm>
            <a:off x="5350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Outlet Location Type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" name="Google Shape;82;p15"/>
          <p:cNvSpPr txBox="1"/>
          <p:nvPr>
            <p:ph idx="4294967295" type="body"/>
          </p:nvPr>
        </p:nvSpPr>
        <p:spPr>
          <a:xfrm>
            <a:off x="53584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Separated</a:t>
            </a:r>
            <a:r>
              <a:rPr lang="en" sz="1600"/>
              <a:t> in different Tier sizes and different Tier sizes result in an increase or decrease in Item Outlet Sales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Tier 1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Tier 2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Tier 3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Project objective: </a:t>
            </a:r>
            <a:endParaRPr b="1"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Does Item MRP and Outlet location type affect Item Outlet Sales?</a:t>
            </a:r>
            <a:endParaRPr sz="3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231875" y="29950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Outlet Location Type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200" y="1009250"/>
            <a:ext cx="4403925" cy="31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509050" y="2131625"/>
            <a:ext cx="3584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rage"/>
              <a:buAutoNum type="arabicPeriod"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Separated</a:t>
            </a: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into three tiers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rage"/>
              <a:buChar char="○"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Tier 1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rage"/>
              <a:buChar char="○"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Tier 2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rage"/>
              <a:buChar char="○"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Tier 3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rage"/>
              <a:buAutoNum type="arabicPeriod"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Tier 2 and 3 are very similar but much higher than tier 1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idx="4294967295" type="title"/>
          </p:nvPr>
        </p:nvSpPr>
        <p:spPr>
          <a:xfrm>
            <a:off x="3651438" y="158700"/>
            <a:ext cx="184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Item MRP</a:t>
            </a:r>
            <a:endParaRPr/>
          </a:p>
        </p:txBody>
      </p:sp>
      <p:sp>
        <p:nvSpPr>
          <p:cNvPr id="100" name="Google Shape;100;p18"/>
          <p:cNvSpPr txBox="1"/>
          <p:nvPr>
            <p:ph idx="4294967295" type="body"/>
          </p:nvPr>
        </p:nvSpPr>
        <p:spPr>
          <a:xfrm>
            <a:off x="5689050" y="3814038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15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01" name="Google Shape;101;p18"/>
          <p:cNvSpPr txBox="1"/>
          <p:nvPr>
            <p:ph idx="4294967295" type="body"/>
          </p:nvPr>
        </p:nvSpPr>
        <p:spPr>
          <a:xfrm>
            <a:off x="6534850" y="33833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25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02" name="Google Shape;102;p18"/>
          <p:cNvSpPr txBox="1"/>
          <p:nvPr>
            <p:ph idx="4294967295" type="body"/>
          </p:nvPr>
        </p:nvSpPr>
        <p:spPr>
          <a:xfrm>
            <a:off x="8226525" y="33830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22</a:t>
            </a:r>
            <a:endParaRPr sz="1400">
              <a:solidFill>
                <a:schemeClr val="lt1"/>
              </a:solidFill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775" y="1351275"/>
            <a:ext cx="5666450" cy="33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2169900" y="735663"/>
            <a:ext cx="48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This shows higher Item MRP results in higher item outlet sales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grpSp>
        <p:nvGrpSpPr>
          <p:cNvPr id="110" name="Google Shape;110;p19"/>
          <p:cNvGrpSpPr/>
          <p:nvPr/>
        </p:nvGrpSpPr>
        <p:grpSpPr>
          <a:xfrm>
            <a:off x="424812" y="1611310"/>
            <a:ext cx="8294372" cy="799416"/>
            <a:chOff x="424813" y="1177875"/>
            <a:chExt cx="8294372" cy="849900"/>
          </a:xfrm>
        </p:grpSpPr>
        <p:sp>
          <p:nvSpPr>
            <p:cNvPr id="111" name="Google Shape;111;p19"/>
            <p:cNvSpPr/>
            <p:nvPr/>
          </p:nvSpPr>
          <p:spPr>
            <a:xfrm>
              <a:off x="2927684" y="1177875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9"/>
            <p:cNvSpPr/>
            <p:nvPr/>
          </p:nvSpPr>
          <p:spPr>
            <a:xfrm>
              <a:off x="424813" y="117787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9"/>
          <p:cNvSpPr txBox="1"/>
          <p:nvPr>
            <p:ph idx="4294967295" type="body"/>
          </p:nvPr>
        </p:nvSpPr>
        <p:spPr>
          <a:xfrm>
            <a:off x="539675" y="1611413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Outlet location type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14" name="Google Shape;114;p19"/>
          <p:cNvGrpSpPr/>
          <p:nvPr/>
        </p:nvGrpSpPr>
        <p:grpSpPr>
          <a:xfrm>
            <a:off x="424825" y="3177239"/>
            <a:ext cx="8294360" cy="799416"/>
            <a:chOff x="424813" y="2075689"/>
            <a:chExt cx="8294360" cy="849900"/>
          </a:xfrm>
        </p:grpSpPr>
        <p:sp>
          <p:nvSpPr>
            <p:cNvPr id="115" name="Google Shape;115;p19"/>
            <p:cNvSpPr/>
            <p:nvPr/>
          </p:nvSpPr>
          <p:spPr>
            <a:xfrm>
              <a:off x="2927672" y="2075689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9"/>
            <p:cNvSpPr/>
            <p:nvPr/>
          </p:nvSpPr>
          <p:spPr>
            <a:xfrm>
              <a:off x="424813" y="207568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" name="Google Shape;117;p19"/>
          <p:cNvSpPr txBox="1"/>
          <p:nvPr>
            <p:ph idx="4294967295" type="body"/>
          </p:nvPr>
        </p:nvSpPr>
        <p:spPr>
          <a:xfrm>
            <a:off x="3607478" y="1772552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There isn’t a significant difference in outlet location type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8" name="Google Shape;118;p19"/>
          <p:cNvSpPr txBox="1"/>
          <p:nvPr>
            <p:ph idx="4294967295" type="body"/>
          </p:nvPr>
        </p:nvSpPr>
        <p:spPr>
          <a:xfrm>
            <a:off x="698750" y="317735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Item MRP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" name="Google Shape;119;p19"/>
          <p:cNvSpPr txBox="1"/>
          <p:nvPr>
            <p:ph idx="4294967295" type="body"/>
          </p:nvPr>
        </p:nvSpPr>
        <p:spPr>
          <a:xfrm>
            <a:off x="3480453" y="3326567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Higher Item MRP predicts higher item outlet sales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Recommendation</a:t>
            </a:r>
            <a:r>
              <a:rPr b="1" lang="en" sz="4200"/>
              <a:t>: </a:t>
            </a:r>
            <a:endParaRPr b="1"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Focus on items with higher Item MRP to result in higher item outlet sales</a:t>
            </a:r>
            <a:endParaRPr sz="3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